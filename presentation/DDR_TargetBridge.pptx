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研究的是一个通路比较的对象组成，不是宣称发现新靶点。原实验不是本人完成；本项目是AI辅助二次分析。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16条是真实样本记录，不是16个独立建系。S1固定原基因，只扩展靶向单位；S2再扩展基因。双guide构建体仍是一种试剂。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显示两种变换。横轴不是时间。M基本不变，E随着支持集合变化。没有置信区间；不能称为线粒体机制反转。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每个点是基因，不是培养重复。全体23个原成员和68个新增成员均展示。均值线不是误差条。这是混合分解，不是候选靶点筛选。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四组完整展示。扩展E有97构建体乘3样本=291项。新增覆盖与低计数同时变化，所以S2不能叫纠正后的真值。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决策不升级这一项特异性主张。两种不同总体的描述不等于同一个生物学效应的独立重复。旧失败命题不被改写。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本人责任应实事求是。项目提供具体比较、分解和可运行记录；标准统计及母研究实验不是本人的新方法或新湿实验。当前公开core从派生观测开始，不是原始counts。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所有量是相对log丰度的描述。共同中心在同一样本的M-E中抵消，不会抵消基因特异误差、计数下限或成员选择。三组S0-S2非独立实验。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三个命令范围不同。verify检查文件和程序，core从已公开变换值重算，historical需要外部源表。公开未包含全count矩阵，不对外说FASTQ端到端复现。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41414"/>
                </a:solidFill>
                <a:latin typeface="DejaVu Sans"/>
              </a:defRPr>
            </a:pPr>
            <a:r>
              <a:t>When the comparator population changes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3737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141414"/>
                </a:solidFill>
                <a:latin typeface="DejaVu Sans"/>
              </a:defRPr>
            </a:pPr>
            <a:r>
              <a:t>DDR TargetBridge · Computational functional-genomics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3737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141414"/>
                </a:solidFill>
                <a:latin typeface="DejaVu Sans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5156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300" b="1">
                <a:solidFill>
                  <a:srgbClr val="141414"/>
                </a:solidFill>
                <a:latin typeface="DejaVu Sans"/>
              </a:defRPr>
            </a:pPr>
            <a:r>
              <a:t>Does a pathway priority survive a change in which perturbations are analyzed?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17520"/>
            <a:ext cx="105156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0">
                <a:solidFill>
                  <a:srgbClr val="141414"/>
                </a:solidFill>
                <a:latin typeface="DejaVu Sans"/>
              </a:defRPr>
            </a:pPr>
            <a:r>
              <a:t>Public A549 WT / PRDX1-KO × vehicle / AZD7648 screen</a:t>
            </a:r>
          </a:p>
          <a:p>
            <a:pPr>
              <a:spcAft>
                <a:spcPts val="1200"/>
              </a:spcAft>
              <a:defRPr sz="2500" b="0">
                <a:solidFill>
                  <a:srgbClr val="141414"/>
                </a:solidFill>
                <a:latin typeface="DejaVu Sans"/>
              </a:defRPr>
            </a:pPr>
            <a:r>
              <a:t>Fixed mitochondrial and translation-elongation sets</a:t>
            </a:r>
          </a:p>
          <a:p>
            <a:pPr>
              <a:spcAft>
                <a:spcPts val="1200"/>
              </a:spcAft>
              <a:defRPr sz="2500" b="0">
                <a:solidFill>
                  <a:srgbClr val="141414"/>
                </a:solidFill>
                <a:latin typeface="DejaVu Sans"/>
              </a:defRPr>
            </a:pPr>
            <a:r>
              <a:t>Finding: the comparator changes; the mitochondrial component is nearly stable.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41414"/>
                </a:solidFill>
                <a:latin typeface="DejaVu Sans"/>
              </a:defRPr>
            </a:pPr>
            <a:r>
              <a:t>One experiment; three analysis populations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3737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141414"/>
                </a:solidFill>
                <a:latin typeface="DejaVu Sans"/>
              </a:defRPr>
            </a:pPr>
            <a:r>
              <a:t>DDR TargetBridge · Computational functional-genomics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3737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141414"/>
                </a:solidFill>
                <a:latin typeface="DejaVu Sans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5156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700" b="0">
                <a:solidFill>
                  <a:srgbClr val="141414"/>
                </a:solidFill>
                <a:latin typeface="DejaVu Sans"/>
              </a:defRPr>
            </a:pPr>
            <a:r>
              <a:t>16 sample records: four endpoint groups × 3, plus two T0 records per background.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43200"/>
            <a:ext cx="1051560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0">
                <a:solidFill>
                  <a:srgbClr val="141414"/>
                </a:solidFill>
                <a:latin typeface="DejaVu Sans"/>
              </a:defRPr>
            </a:pPr>
            <a:r>
              <a:t>S0   Original genes and targeting units                 M 89 / E 23</a:t>
            </a:r>
          </a:p>
          <a:p>
            <a:pPr>
              <a:spcAft>
                <a:spcPts val="1200"/>
              </a:spcAft>
              <a:defRPr sz="2400" b="0">
                <a:solidFill>
                  <a:srgbClr val="141414"/>
                </a:solidFill>
                <a:latin typeface="DejaVu Sans"/>
              </a:defRPr>
            </a:pPr>
            <a:r>
              <a:t>S1   Same genes; expanded targeting units            M 89 / E 23</a:t>
            </a:r>
          </a:p>
          <a:p>
            <a:pPr>
              <a:spcAft>
                <a:spcPts val="1200"/>
              </a:spcAft>
              <a:defRPr sz="2400" b="0">
                <a:solidFill>
                  <a:srgbClr val="141414"/>
                </a:solidFill>
                <a:latin typeface="DejaVu Sans"/>
              </a:defRPr>
            </a:pPr>
            <a:r>
              <a:t>S2   All T0-qualified support                                M 94 / E 91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623560"/>
            <a:ext cx="105156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41414"/>
                </a:solidFill>
                <a:latin typeface="DejaVu Sans"/>
              </a:defRPr>
            </a:pPr>
            <a:r>
              <a:t>M: Mitochondrial translation. E: Eukaryotic Translation Elongation.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41414"/>
                </a:solidFill>
                <a:latin typeface="DejaVu Sans"/>
              </a:defRPr>
            </a:pPr>
            <a:r>
              <a:t>The comparator component changes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3737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141414"/>
                </a:solidFill>
                <a:latin typeface="DejaVu Sans"/>
              </a:defRPr>
            </a:pPr>
            <a:r>
              <a:t>DDR TargetBridge · Computational functional-genomics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3737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141414"/>
                </a:solidFill>
                <a:latin typeface="DejaVu Sans"/>
              </a:defRPr>
            </a:pPr>
            <a:r>
              <a:t>3</a:t>
            </a:r>
          </a:p>
        </p:txBody>
      </p:sp>
      <p:pic>
        <p:nvPicPr>
          <p:cNvPr id="5" name="Picture 4" descr="01_compon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25880"/>
            <a:ext cx="7863840" cy="47647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32520" y="1920240"/>
            <a:ext cx="27432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41414"/>
                </a:solidFill>
                <a:latin typeface="DejaVu Sans"/>
              </a:defRPr>
            </a:pPr>
            <a:r>
              <a:t>M is nearly stable.</a:t>
            </a:r>
          </a:p>
          <a:p>
            <a:pPr>
              <a:spcAft>
                <a:spcPts val="1200"/>
              </a:spcAft>
              <a:defRPr sz="2300" b="0">
                <a:solidFill>
                  <a:srgbClr val="141414"/>
                </a:solidFill>
                <a:latin typeface="DejaVu Sans"/>
              </a:defRPr>
            </a:pPr>
            <a:r>
              <a:t>E increases with restored support.</a:t>
            </a:r>
          </a:p>
          <a:p>
            <a:pPr>
              <a:spcAft>
                <a:spcPts val="1200"/>
              </a:spcAft>
              <a:defRPr sz="2300" b="0">
                <a:solidFill>
                  <a:srgbClr val="141414"/>
                </a:solidFill>
                <a:latin typeface="DejaVu Sans"/>
              </a:defRPr>
            </a:pPr>
            <a:r>
              <a:t>Both transforms show this pattern.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41414"/>
                </a:solidFill>
                <a:latin typeface="DejaVu Sans"/>
              </a:defRPr>
            </a:pPr>
            <a:r>
              <a:t>Added comparator genes shift the mixture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3737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141414"/>
                </a:solidFill>
                <a:latin typeface="DejaVu Sans"/>
              </a:defRPr>
            </a:pPr>
            <a:r>
              <a:t>DDR TargetBridge · Computational functional-genomics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3737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141414"/>
                </a:solidFill>
                <a:latin typeface="DejaVu Sans"/>
              </a:defRPr>
            </a:pPr>
            <a:r>
              <a:t>4</a:t>
            </a:r>
          </a:p>
        </p:txBody>
      </p:sp>
      <p:pic>
        <p:nvPicPr>
          <p:cNvPr id="5" name="Picture 4" descr="02_comparator_memb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25880"/>
            <a:ext cx="7863840" cy="47476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32520" y="1920240"/>
            <a:ext cx="27432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141414"/>
                </a:solidFill>
                <a:latin typeface="DejaVu Sans"/>
              </a:defRPr>
            </a:pPr>
            <a:r>
              <a:t>Zero-only means</a:t>
            </a:r>
          </a:p>
          <a:p>
            <a:pPr>
              <a:spcAft>
                <a:spcPts val="1200"/>
              </a:spcAft>
              <a:defRPr sz="2200" b="0">
                <a:solidFill>
                  <a:srgbClr val="141414"/>
                </a:solidFill>
                <a:latin typeface="DejaVu Sans"/>
              </a:defRPr>
            </a:pPr>
            <a:r>
              <a:t>23 retained: +0.567</a:t>
            </a:r>
          </a:p>
          <a:p>
            <a:pPr>
              <a:spcAft>
                <a:spcPts val="1200"/>
              </a:spcAft>
              <a:defRPr sz="2200" b="0">
                <a:solidFill>
                  <a:srgbClr val="141414"/>
                </a:solidFill>
                <a:latin typeface="DejaVu Sans"/>
              </a:defRPr>
            </a:pPr>
            <a:r>
              <a:t>68 added: +3.574</a:t>
            </a:r>
          </a:p>
          <a:p>
            <a:pPr>
              <a:spcAft>
                <a:spcPts val="1200"/>
              </a:spcAft>
              <a:defRPr sz="2200" b="0">
                <a:solidFill>
                  <a:srgbClr val="141414"/>
                </a:solidFill>
                <a:latin typeface="DejaVu Sans"/>
              </a:defRPr>
            </a:pPr>
            <a:r>
              <a:t>All members retained in the display.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41414"/>
                </a:solidFill>
                <a:latin typeface="DejaVu Sans"/>
              </a:defRPr>
            </a:pPr>
            <a:r>
              <a:t>More coverage is not automatically better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3737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141414"/>
                </a:solidFill>
                <a:latin typeface="DejaVu Sans"/>
              </a:defRPr>
            </a:pPr>
            <a:r>
              <a:t>DDR TargetBridge · Computational functional-genomics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3737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141414"/>
                </a:solidFill>
                <a:latin typeface="DejaVu Sans"/>
              </a:defRPr>
            </a:pPr>
            <a:r>
              <a:t>5</a:t>
            </a:r>
          </a:p>
        </p:txBody>
      </p:sp>
      <p:pic>
        <p:nvPicPr>
          <p:cNvPr id="5" name="Picture 4" descr="03_count_flo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25880"/>
            <a:ext cx="7863840" cy="47487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32520" y="1965960"/>
            <a:ext cx="2743200" cy="3154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141414"/>
                </a:solidFill>
                <a:latin typeface="DejaVu Sans"/>
              </a:defRPr>
            </a:pPr>
            <a:r>
              <a:t>Qualification uses vehicle.</a:t>
            </a:r>
          </a:p>
          <a:p>
            <a:pPr>
              <a:spcAft>
                <a:spcPts val="1200"/>
              </a:spcAft>
              <a:defRPr sz="2200" b="0">
                <a:solidFill>
                  <a:srgbClr val="141414"/>
                </a:solidFill>
                <a:latin typeface="DejaVu Sans"/>
              </a:defRPr>
            </a:pPr>
            <a:r>
              <a:t>The response subtracts vehicle.</a:t>
            </a:r>
          </a:p>
          <a:p>
            <a:pPr>
              <a:spcAft>
                <a:spcPts val="1200"/>
              </a:spcAft>
              <a:defRPr sz="2200" b="0">
                <a:solidFill>
                  <a:srgbClr val="141414"/>
                </a:solidFill>
                <a:latin typeface="DejaVu Sans"/>
              </a:defRPr>
            </a:pPr>
            <a:r>
              <a:t>Coverage, growth and count floors remain entangled.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41414"/>
                </a:solidFill>
                <a:latin typeface="DejaVu Sans"/>
              </a:defRPr>
            </a:pPr>
            <a:r>
              <a:t>A finite conclusion, not a target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3737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141414"/>
                </a:solidFill>
                <a:latin typeface="DejaVu Sans"/>
              </a:defRPr>
            </a:pPr>
            <a:r>
              <a:t>DDR TargetBridge · Computational functional-genomics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3737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141414"/>
                </a:solidFill>
                <a:latin typeface="DejaVu Sans"/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070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41414"/>
                </a:solidFill>
                <a:latin typeface="DejaVu Sans"/>
              </a:defRPr>
            </a:pPr>
            <a:r>
              <a:t>The original positive M − E contrast does not provide a membership-insensitive basis for a mitochondrial-specific priority.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566160"/>
            <a:ext cx="106070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41414"/>
                </a:solidFill>
                <a:latin typeface="DejaVu Sans"/>
              </a:defRPr>
            </a:pPr>
            <a:r>
              <a:t>The expanded negative contrast is not biological truth.</a:t>
            </a:r>
          </a:p>
          <a:p>
            <a:pPr>
              <a:spcAft>
                <a:spcPts val="1200"/>
              </a:spcAft>
              <a:defRPr sz="2300" b="0">
                <a:solidFill>
                  <a:srgbClr val="141414"/>
                </a:solidFill>
                <a:latin typeface="DejaVu Sans"/>
              </a:defRPr>
            </a:pPr>
            <a:r>
              <a:t>Clone, growth and perturbation-specific effects are not isolated.</a:t>
            </a:r>
          </a:p>
          <a:p>
            <a:pPr>
              <a:spcAft>
                <a:spcPts val="1200"/>
              </a:spcAft>
              <a:defRPr sz="2300" b="0">
                <a:solidFill>
                  <a:srgbClr val="141414"/>
                </a:solidFill>
                <a:latin typeface="DejaVu Sans"/>
              </a:defRPr>
            </a:pPr>
            <a:r>
              <a:t>Earlier unsuccessful comparisons remain separate case histories.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41414"/>
                </a:solidFill>
                <a:latin typeface="DejaVu Sans"/>
              </a:defRPr>
            </a:pPr>
            <a:r>
              <a:t>Contribution and reproducible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3737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141414"/>
                </a:solidFill>
                <a:latin typeface="DejaVu Sans"/>
              </a:defRPr>
            </a:pPr>
            <a:r>
              <a:t>DDR TargetBridge · Computational functional-genomics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3737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141414"/>
                </a:solidFill>
                <a:latin typeface="DejaVu Sans"/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51560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41414"/>
                </a:solidFill>
                <a:latin typeface="DejaVu Sans"/>
              </a:defRPr>
            </a:pPr>
            <a:r>
              <a:t>Project: fixed comparisons, component decomposition, source-linked code.</a:t>
            </a:r>
          </a:p>
          <a:p>
            <a:pPr>
              <a:spcAft>
                <a:spcPts val="1200"/>
              </a:spcAft>
              <a:defRPr sz="2300" b="0">
                <a:solidFill>
                  <a:srgbClr val="141414"/>
                </a:solidFill>
                <a:latin typeface="DejaVu Sans"/>
              </a:defRPr>
            </a:pPr>
            <a:r>
              <a:t>Original investigators: laboratory experiments and published mechanisms.</a:t>
            </a:r>
          </a:p>
          <a:p>
            <a:pPr>
              <a:spcAft>
                <a:spcPts val="1200"/>
              </a:spcAft>
              <a:defRPr sz="2300" b="0">
                <a:solidFill>
                  <a:srgbClr val="141414"/>
                </a:solidFill>
                <a:latin typeface="DejaVu Sans"/>
              </a:defRPr>
            </a:pPr>
            <a:r>
              <a:t>AI assistance: discussion, implementation, testing, figures and writing.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60520"/>
            <a:ext cx="105156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41414"/>
                </a:solidFill>
                <a:latin typeface="DejaVu Sans"/>
              </a:defRPr>
            </a:pPr>
            <a:r>
              <a:t>Public core: transformed gene/sample records → pathway summaries → six comparisons.</a:t>
            </a:r>
          </a:p>
          <a:p>
            <a:pPr>
              <a:spcAft>
                <a:spcPts val="1200"/>
              </a:spcAft>
              <a:defRPr sz="2300" b="1">
                <a:solidFill>
                  <a:srgbClr val="141414"/>
                </a:solidFill>
                <a:latin typeface="DejaVu Sans"/>
              </a:defRPr>
            </a:pPr>
            <a:r>
              <a:t>Historical source tables require separate retrieval.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41414"/>
                </a:solidFill>
                <a:latin typeface="DejaVu Sans"/>
              </a:defRPr>
            </a:pPr>
            <a:r>
              <a:t>Backup: the quantity being compared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3737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141414"/>
                </a:solidFill>
                <a:latin typeface="DejaVu Sans"/>
              </a:defRPr>
            </a:pPr>
            <a:r>
              <a:t>DDR TargetBridge · Computational functional-genomics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3737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141414"/>
                </a:solidFill>
                <a:latin typeface="DejaVu Sans"/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51560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141414"/>
                </a:solidFill>
                <a:latin typeface="DejaVu Sans"/>
              </a:defRPr>
            </a:pPr>
            <a:r>
              <a:t>β(P, b) = mean drug(P, b) − mean vehicle(P, b)</a:t>
            </a:r>
          </a:p>
          <a:p>
            <a:pPr>
              <a:spcAft>
                <a:spcPts val="1200"/>
              </a:spcAft>
              <a:defRPr sz="2800" b="1">
                <a:solidFill>
                  <a:srgbClr val="141414"/>
                </a:solidFill>
                <a:latin typeface="DejaVu Sans"/>
              </a:defRPr>
            </a:pPr>
            <a:r>
              <a:t>θ(P) = β(P, KO) − β(P, WT)</a:t>
            </a:r>
          </a:p>
          <a:p>
            <a:pPr>
              <a:spcAft>
                <a:spcPts val="1200"/>
              </a:spcAft>
              <a:defRPr sz="2800" b="1">
                <a:solidFill>
                  <a:srgbClr val="141414"/>
                </a:solidFill>
                <a:latin typeface="DejaVu Sans"/>
              </a:defRPr>
            </a:pPr>
            <a:r>
              <a:t>Pathway contrast = θ(M) − θ(E)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6052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0">
                <a:solidFill>
                  <a:srgbClr val="141414"/>
                </a:solidFill>
                <a:latin typeface="DejaVu Sans"/>
              </a:defRPr>
            </a:pPr>
            <a:r>
              <a:t>A common additive center cancels.</a:t>
            </a:r>
          </a:p>
          <a:p>
            <a:pPr>
              <a:spcAft>
                <a:spcPts val="1200"/>
              </a:spcAft>
              <a:defRPr sz="2500" b="0">
                <a:solidFill>
                  <a:srgbClr val="141414"/>
                </a:solidFill>
                <a:latin typeface="DejaVu Sans"/>
              </a:defRPr>
            </a:pPr>
            <a:r>
              <a:t>Membership, count floors and clone effects do not.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41414"/>
                </a:solidFill>
                <a:latin typeface="DejaVu Sans"/>
              </a:defRPr>
            </a:pPr>
            <a:r>
              <a:t>Backup: inspect, reproduce, then interpret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37376"/>
            <a:ext cx="10698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141414"/>
                </a:solidFill>
                <a:latin typeface="DejaVu Sans"/>
              </a:defRPr>
            </a:pPr>
            <a:r>
              <a:t>DDR TargetBridge · Computational functional-genomics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3737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141414"/>
                </a:solidFill>
                <a:latin typeface="DejaVu Sans"/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984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41414"/>
                </a:solidFill>
                <a:latin typeface="DejaVu Sans"/>
              </a:defRPr>
            </a:pPr>
            <a:r>
              <a:t>Report: reports/DDR_TargetBridge_Case_Study.pdf</a:t>
            </a:r>
          </a:p>
          <a:p>
            <a:pPr>
              <a:spcAft>
                <a:spcPts val="1200"/>
              </a:spcAft>
              <a:defRPr sz="2000" b="0">
                <a:solidFill>
                  <a:srgbClr val="141414"/>
                </a:solidFill>
                <a:latin typeface="DejaVu Sans"/>
              </a:defRPr>
            </a:pPr>
            <a:r>
              <a:t>Claims: docs/SCIENTIFIC_CLAIM_LEDGER.md</a:t>
            </a:r>
          </a:p>
          <a:p>
            <a:pPr>
              <a:spcAft>
                <a:spcPts val="1200"/>
              </a:spcAft>
              <a:defRPr sz="2000" b="0">
                <a:solidFill>
                  <a:srgbClr val="141414"/>
                </a:solidFill>
                <a:latin typeface="DejaVu Sans"/>
              </a:defRPr>
            </a:pPr>
            <a:r>
              <a:t>Verify: python tools/run.py verify</a:t>
            </a:r>
          </a:p>
          <a:p>
            <a:pPr>
              <a:spcAft>
                <a:spcPts val="1200"/>
              </a:spcAft>
              <a:defRPr sz="2000" b="0">
                <a:solidFill>
                  <a:srgbClr val="141414"/>
                </a:solidFill>
                <a:latin typeface="DejaVu Sans"/>
              </a:defRPr>
            </a:pPr>
            <a:r>
              <a:t>Public core: python tools/run.py core --output .build/demo</a:t>
            </a:r>
          </a:p>
          <a:p>
            <a:pPr>
              <a:spcAft>
                <a:spcPts val="1200"/>
              </a:spcAft>
              <a:defRPr sz="2000" b="0">
                <a:solidFill>
                  <a:srgbClr val="141414"/>
                </a:solidFill>
                <a:latin typeface="DejaVu Sans"/>
              </a:defRPr>
            </a:pPr>
            <a:r>
              <a:t>Historical tables: python tools/run.py historical --output .build/history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440680"/>
            <a:ext cx="106070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141414"/>
                </a:solidFill>
                <a:latin typeface="DejaVu Sans"/>
              </a:defRPr>
            </a:pPr>
            <a:r>
              <a:t>github.com/jiangboyan0129/DDR-TargetBridge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DDR TargetBridge — comparator membership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